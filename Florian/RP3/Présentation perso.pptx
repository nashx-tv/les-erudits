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Calibri" panose="020F0502020204030204" pitchFamily="34" charset="0"/>
      <p:regular r:id="rId8"/>
      <p:bold r:id="rId9"/>
      <p:italic r:id="rId10"/>
      <p:boldItalic r:id="rId11"/>
    </p:embeddedFont>
    <p:embeddedFont>
      <p:font typeface="League Spartan" panose="020B0604020202020204" charset="0"/>
      <p:regular r:id="rId12"/>
    </p:embeddedFont>
    <p:embeddedFont>
      <p:font typeface="Open Sans" panose="020B0606030504020204" pitchFamily="34" charset="0"/>
      <p:regular r:id="rId13"/>
    </p:embeddedFont>
    <p:embeddedFont>
      <p:font typeface="Open Sans Bold" panose="020B0806030504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2" d="100"/>
          <a:sy n="72" d="100"/>
        </p:scale>
        <p:origin x="414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2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931794" y="270883"/>
            <a:ext cx="7206204" cy="10828995"/>
          </a:xfrm>
          <a:custGeom>
            <a:avLst/>
            <a:gdLst/>
            <a:ahLst/>
            <a:cxnLst/>
            <a:rect l="l" t="t" r="r" b="b"/>
            <a:pathLst>
              <a:path w="7206204" h="10828995">
                <a:moveTo>
                  <a:pt x="0" y="0"/>
                </a:moveTo>
                <a:lnTo>
                  <a:pt x="7206204" y="0"/>
                </a:lnTo>
                <a:lnTo>
                  <a:pt x="7206204" y="10828995"/>
                </a:lnTo>
                <a:lnTo>
                  <a:pt x="0" y="108289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-5400000">
            <a:off x="10128717" y="5108938"/>
            <a:ext cx="1676851" cy="69123"/>
            <a:chOff x="0" y="0"/>
            <a:chExt cx="441640" cy="1820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1640" cy="18205"/>
            </a:xfrm>
            <a:custGeom>
              <a:avLst/>
              <a:gdLst/>
              <a:ahLst/>
              <a:cxnLst/>
              <a:rect l="l" t="t" r="r" b="b"/>
              <a:pathLst>
                <a:path w="441640" h="18205">
                  <a:moveTo>
                    <a:pt x="0" y="0"/>
                  </a:moveTo>
                  <a:lnTo>
                    <a:pt x="441640" y="0"/>
                  </a:lnTo>
                  <a:lnTo>
                    <a:pt x="441640" y="18205"/>
                  </a:lnTo>
                  <a:lnTo>
                    <a:pt x="0" y="18205"/>
                  </a:lnTo>
                  <a:close/>
                </a:path>
              </a:pathLst>
            </a:custGeom>
            <a:solidFill>
              <a:srgbClr val="F7E7D7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41640" cy="563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1508324" y="3059679"/>
            <a:ext cx="5881789" cy="4524453"/>
          </a:xfrm>
          <a:custGeom>
            <a:avLst/>
            <a:gdLst/>
            <a:ahLst/>
            <a:cxnLst/>
            <a:rect l="l" t="t" r="r" b="b"/>
            <a:pathLst>
              <a:path w="5881789" h="4524453">
                <a:moveTo>
                  <a:pt x="0" y="0"/>
                </a:moveTo>
                <a:lnTo>
                  <a:pt x="5881789" y="0"/>
                </a:lnTo>
                <a:lnTo>
                  <a:pt x="5881789" y="4524453"/>
                </a:lnTo>
                <a:lnTo>
                  <a:pt x="0" y="45244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955141" y="3784471"/>
            <a:ext cx="7889633" cy="2908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88"/>
              </a:lnSpc>
            </a:pPr>
            <a:r>
              <a:rPr lang="en-US" sz="7882" spc="-39">
                <a:solidFill>
                  <a:srgbClr val="F7E7D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Présentation de la partie personnelle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2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009107" y="2453131"/>
            <a:ext cx="5380738" cy="5380738"/>
          </a:xfrm>
          <a:custGeom>
            <a:avLst/>
            <a:gdLst/>
            <a:ahLst/>
            <a:cxnLst/>
            <a:rect l="l" t="t" r="r" b="b"/>
            <a:pathLst>
              <a:path w="5380738" h="5380738">
                <a:moveTo>
                  <a:pt x="0" y="0"/>
                </a:moveTo>
                <a:lnTo>
                  <a:pt x="5380738" y="0"/>
                </a:lnTo>
                <a:lnTo>
                  <a:pt x="5380738" y="5380738"/>
                </a:lnTo>
                <a:lnTo>
                  <a:pt x="0" y="53807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225549" y="100417"/>
            <a:ext cx="13836902" cy="1111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Sommaire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1823157"/>
            <a:ext cx="9584282" cy="6605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82"/>
              </a:lnSpc>
            </a:pPr>
            <a:endParaRPr/>
          </a:p>
          <a:p>
            <a:pPr marL="1015166" lvl="1" indent="-507583" algn="l">
              <a:lnSpc>
                <a:spcPts val="6582"/>
              </a:lnSpc>
              <a:buFont typeface="Arial"/>
              <a:buChar char="•"/>
            </a:pPr>
            <a:r>
              <a:rPr lang="en-US" sz="470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Diagramme de cas d'utilisation</a:t>
            </a:r>
          </a:p>
          <a:p>
            <a:pPr algn="l">
              <a:lnSpc>
                <a:spcPts val="6582"/>
              </a:lnSpc>
            </a:pPr>
            <a:r>
              <a:rPr lang="en-US" sz="470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  <a:p>
            <a:pPr marL="1015166" lvl="1" indent="-507583" algn="l">
              <a:lnSpc>
                <a:spcPts val="6582"/>
              </a:lnSpc>
              <a:buFont typeface="Arial"/>
              <a:buChar char="•"/>
            </a:pPr>
            <a:r>
              <a:rPr lang="en-US" sz="470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Diagramme de déploiement </a:t>
            </a:r>
          </a:p>
          <a:p>
            <a:pPr algn="l">
              <a:lnSpc>
                <a:spcPts val="6582"/>
              </a:lnSpc>
            </a:pPr>
            <a:endParaRPr lang="en-US" sz="4702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1015166" lvl="1" indent="-507583" algn="l">
              <a:lnSpc>
                <a:spcPts val="6582"/>
              </a:lnSpc>
              <a:buFont typeface="Arial"/>
              <a:buChar char="•"/>
            </a:pPr>
            <a:r>
              <a:rPr lang="en-US" sz="470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Diagramme de séquence</a:t>
            </a:r>
          </a:p>
          <a:p>
            <a:pPr algn="l">
              <a:lnSpc>
                <a:spcPts val="6582"/>
              </a:lnSpc>
            </a:pPr>
            <a:endParaRPr lang="en-US" sz="4702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1015166" lvl="1" indent="-507583" algn="l">
              <a:lnSpc>
                <a:spcPts val="6582"/>
              </a:lnSpc>
              <a:buFont typeface="Arial"/>
              <a:buChar char="•"/>
            </a:pPr>
            <a:r>
              <a:rPr lang="en-US" sz="470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Diagramme de Classe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2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46376" y="1757939"/>
            <a:ext cx="11493946" cy="7612483"/>
          </a:xfrm>
          <a:custGeom>
            <a:avLst/>
            <a:gdLst/>
            <a:ahLst/>
            <a:cxnLst/>
            <a:rect l="l" t="t" r="r" b="b"/>
            <a:pathLst>
              <a:path w="11493946" h="7612483">
                <a:moveTo>
                  <a:pt x="0" y="0"/>
                </a:moveTo>
                <a:lnTo>
                  <a:pt x="11493946" y="0"/>
                </a:lnTo>
                <a:lnTo>
                  <a:pt x="11493946" y="7612482"/>
                </a:lnTo>
                <a:lnTo>
                  <a:pt x="0" y="76124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225549" y="100417"/>
            <a:ext cx="13836902" cy="1111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Diagramme de cas d’utilisation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231523" y="3019742"/>
            <a:ext cx="4901326" cy="4180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Définir les besoins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Identifier les acteurs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Montrer les services ou fonctions</a:t>
            </a:r>
          </a:p>
          <a:p>
            <a:pPr algn="ctr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2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56365" y="2326369"/>
            <a:ext cx="12660630" cy="5634263"/>
          </a:xfrm>
          <a:custGeom>
            <a:avLst/>
            <a:gdLst/>
            <a:ahLst/>
            <a:cxnLst/>
            <a:rect l="l" t="t" r="r" b="b"/>
            <a:pathLst>
              <a:path w="12660630" h="5634263">
                <a:moveTo>
                  <a:pt x="0" y="0"/>
                </a:moveTo>
                <a:lnTo>
                  <a:pt x="12660630" y="0"/>
                </a:lnTo>
                <a:lnTo>
                  <a:pt x="12660630" y="5634262"/>
                </a:lnTo>
                <a:lnTo>
                  <a:pt x="0" y="56342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225549" y="-82624"/>
            <a:ext cx="13836902" cy="1111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Diagramme de déploiement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889509" y="2185034"/>
            <a:ext cx="5398491" cy="7181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# Tâches à effectuer</a:t>
            </a:r>
          </a:p>
          <a:p>
            <a:pPr marL="0" lvl="0" indent="0" algn="l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Visualiser l'architecture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Aider à planifier l'installation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Vérifier que tous les composants nécessaires sont présents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2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988620" y="1390121"/>
            <a:ext cx="5769828" cy="8309931"/>
          </a:xfrm>
          <a:custGeom>
            <a:avLst/>
            <a:gdLst/>
            <a:ahLst/>
            <a:cxnLst/>
            <a:rect l="l" t="t" r="r" b="b"/>
            <a:pathLst>
              <a:path w="5769828" h="8309931">
                <a:moveTo>
                  <a:pt x="0" y="0"/>
                </a:moveTo>
                <a:lnTo>
                  <a:pt x="5769828" y="0"/>
                </a:lnTo>
                <a:lnTo>
                  <a:pt x="5769828" y="8309931"/>
                </a:lnTo>
                <a:lnTo>
                  <a:pt x="0" y="83099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225549" y="-82624"/>
            <a:ext cx="13836902" cy="1111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Diagramme de classe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713583" y="3319780"/>
            <a:ext cx="5180013" cy="3580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Illustrer les relations entre les classes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endParaRPr lang="en-US" sz="3399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Servir de fondation pour l’architecture logicielle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2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814185" y="1561275"/>
            <a:ext cx="7826762" cy="8310312"/>
          </a:xfrm>
          <a:custGeom>
            <a:avLst/>
            <a:gdLst/>
            <a:ahLst/>
            <a:cxnLst/>
            <a:rect l="l" t="t" r="r" b="b"/>
            <a:pathLst>
              <a:path w="7826762" h="8310312">
                <a:moveTo>
                  <a:pt x="0" y="0"/>
                </a:moveTo>
                <a:lnTo>
                  <a:pt x="7826762" y="0"/>
                </a:lnTo>
                <a:lnTo>
                  <a:pt x="7826762" y="8310312"/>
                </a:lnTo>
                <a:lnTo>
                  <a:pt x="0" y="83103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225549" y="-82624"/>
            <a:ext cx="13836902" cy="1111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Diagramme de séquence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972622" y="3579300"/>
            <a:ext cx="6577248" cy="2380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Montrer la succession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Aider à comprendre la logique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</Words>
  <Application>Microsoft Office PowerPoint</Application>
  <PresentationFormat>Personnalisé</PresentationFormat>
  <Paragraphs>32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2" baseType="lpstr">
      <vt:lpstr>Calibri</vt:lpstr>
      <vt:lpstr>League Spartan</vt:lpstr>
      <vt:lpstr>Open Sans</vt:lpstr>
      <vt:lpstr>Open Sans Bold</vt:lpstr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perso</dc:title>
  <cp:lastModifiedBy>Florian BSL</cp:lastModifiedBy>
  <cp:revision>2</cp:revision>
  <dcterms:created xsi:type="dcterms:W3CDTF">2006-08-16T00:00:00Z</dcterms:created>
  <dcterms:modified xsi:type="dcterms:W3CDTF">2026-04-27T20:25:12Z</dcterms:modified>
  <dc:identifier>DAHIEEYDUJ0</dc:identifier>
</cp:coreProperties>
</file>